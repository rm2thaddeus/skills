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58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Arial"/>
              </a:rPr>
              <a:t>Test de dashboarding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F4F6F6"/>
                </a:solidFill>
                <a:latin typeface="Arial"/>
              </a:rPr>
              <a:t>Synthèse, visuels et justifications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58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Arial"/>
              </a:rPr>
              <a:t>Test de dashboarding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F4F6F6"/>
                </a:solidFill>
                <a:latin typeface="Arial"/>
              </a:rPr>
              <a:t>Synthèse, visuels et justifications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4F6F6"/>
                </a:solidFill>
                <a:latin typeface="Arial"/>
              </a:rPr>
              <a:t>Objectifs et données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8046720" cy="5257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4F6F6"/>
                </a:solidFill>
                <a:latin typeface="Arial"/>
              </a:defRPr>
            </a:pPr>
            <a:r>
              <a:t>Objectif: construire un dashboard fiable et réplicable</a:t>
            </a:r>
          </a:p>
          <a:p>
            <a:pPr>
              <a:defRPr sz="1800">
                <a:solidFill>
                  <a:srgbClr val="F4F6F6"/>
                </a:solidFill>
                <a:latin typeface="Arial"/>
              </a:defRPr>
            </a:pPr>
            <a:r>
              <a:t>Lecture du cahier d'exercice et identification des onglets</a:t>
            </a:r>
          </a:p>
          <a:p>
            <a:pPr>
              <a:defRPr sz="1800">
                <a:solidFill>
                  <a:srgbClr val="F4F6F6"/>
                </a:solidFill>
                <a:latin typeface="Arial"/>
              </a:defRPr>
            </a:pPr>
            <a:r>
              <a:t>Sources: Données médecins + Données visites + 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4F6F6"/>
                </a:solidFill>
                <a:latin typeface="Arial"/>
              </a:rPr>
              <a:t>Méthodologie de traitement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8046720" cy="5257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4F6F6"/>
                </a:solidFill>
                <a:latin typeface="Arial"/>
              </a:defRPr>
            </a:pPr>
            <a:r>
              <a:t>Nettoyage: détection de l'entête ("Identifiant"), suppression lignes/colonnes vides</a:t>
            </a:r>
          </a:p>
          <a:p>
            <a:pPr>
              <a:defRPr sz="1800">
                <a:solidFill>
                  <a:srgbClr val="F4F6F6"/>
                </a:solidFill>
                <a:latin typeface="Arial"/>
              </a:defRPr>
            </a:pPr>
            <a:r>
              <a:t>Dates: conversion des numéros Excel en dates (origine: 1899-12-30)</a:t>
            </a:r>
          </a:p>
          <a:p>
            <a:pPr>
              <a:defRPr sz="1800">
                <a:solidFill>
                  <a:srgbClr val="F4F6F6"/>
                </a:solidFill>
                <a:latin typeface="Arial"/>
              </a:defRPr>
            </a:pPr>
            <a:r>
              <a:t>Durée: extraction en minutes depuis "15 min"</a:t>
            </a:r>
          </a:p>
          <a:p>
            <a:pPr>
              <a:defRPr sz="1800">
                <a:solidFill>
                  <a:srgbClr val="F4F6F6"/>
                </a:solidFill>
                <a:latin typeface="Arial"/>
              </a:defRPr>
            </a:pPr>
            <a:r>
              <a:t>Clés: "Identifiant" pour jointure entre visites et médecins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4F6F6"/>
                </a:solidFill>
                <a:latin typeface="Arial"/>
              </a:rPr>
              <a:t>Indicateurs clés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8046720" cy="5257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4F6F6"/>
                </a:solidFill>
                <a:latin typeface="Arial"/>
              </a:defRPr>
            </a:pPr>
            <a:r>
              <a:t>Total de visites: 624</a:t>
            </a:r>
          </a:p>
          <a:p>
            <a:pPr>
              <a:defRPr sz="1800">
                <a:solidFill>
                  <a:srgbClr val="F4F6F6"/>
                </a:solidFill>
                <a:latin typeface="Arial"/>
              </a:defRPr>
            </a:pPr>
            <a:r>
              <a:t>Médecins uniques visités: 154</a:t>
            </a:r>
          </a:p>
          <a:p>
            <a:pPr>
              <a:defRPr sz="1800">
                <a:solidFill>
                  <a:srgbClr val="F4F6F6"/>
                </a:solidFill>
                <a:latin typeface="Arial"/>
              </a:defRPr>
            </a:pPr>
            <a:r>
              <a:t>Durée moyenne de visite (min): 37.1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4F6F6"/>
                </a:solidFill>
                <a:latin typeface="Arial"/>
              </a:rPr>
              <a:t>Série temporelle des visites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8046720" cy="4709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AB7B8"/>
                </a:solidFill>
                <a:latin typeface="Arial"/>
              </a:defRPr>
            </a:pPr>
            <a:r>
              <a:t>[Chart missing: visites_mensuelles_line.png]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4F6F6"/>
                </a:solidFill>
                <a:latin typeface="Arial"/>
              </a:rPr>
              <a:t>Répartition par mode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8046720" cy="4709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AB7B8"/>
                </a:solidFill>
                <a:latin typeface="Arial"/>
              </a:defRPr>
            </a:pPr>
            <a:r>
              <a:t>[Chart missing: visites_par_mode_bar.png]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4F6F6"/>
                </a:solidFill>
                <a:latin typeface="Arial"/>
              </a:rPr>
              <a:t>Répartition par secteur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8046720" cy="4709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AB7B8"/>
                </a:solidFill>
                <a:latin typeface="Arial"/>
              </a:defRPr>
            </a:pPr>
            <a:r>
              <a:t>[Chart missing: visites_par_secteur_bar.png]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4F6F6"/>
                </a:solidFill>
                <a:latin typeface="Arial"/>
              </a:rPr>
              <a:t>Répartition par ARS (médecins)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8046720" cy="4709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AB7B8"/>
                </a:solidFill>
                <a:latin typeface="Arial"/>
              </a:defRPr>
            </a:pPr>
            <a:r>
              <a:t>[Chart missing: repartition_ars_bar.png]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4F6F6"/>
                </a:solidFill>
                <a:latin typeface="Arial"/>
              </a:rPr>
              <a:t>Répartition par région (médecins)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8046720" cy="4709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AB7B8"/>
                </a:solidFill>
                <a:latin typeface="Arial"/>
              </a:defRPr>
            </a:pPr>
            <a:r>
              <a:t>[Chart missing: repartition_region_bar.png]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4F6F6"/>
                </a:solidFill>
                <a:latin typeface="Arial"/>
              </a:rPr>
              <a:t>Top 10 spécialités (médecins)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8046720" cy="4709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AB7B8"/>
                </a:solidFill>
                <a:latin typeface="Arial"/>
              </a:defRPr>
            </a:pPr>
            <a:r>
              <a:t>[Chart missing: top10_specialites_bar.png]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4F6F6"/>
                </a:solidFill>
                <a:latin typeface="Arial"/>
              </a:rPr>
              <a:t>Top 10 délégués (visites)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8046720" cy="4709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AB7B8"/>
                </a:solidFill>
                <a:latin typeface="Arial"/>
              </a:defRPr>
            </a:pPr>
            <a:r>
              <a:t>[Chart missing: top10_delegues_bar.png]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4F6F6"/>
                </a:solidFill>
                <a:latin typeface="Arial"/>
              </a:rPr>
              <a:t>Formules Excel et principes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8046720" cy="5257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4F6F6"/>
                </a:solidFill>
                <a:latin typeface="Arial"/>
              </a:defRPr>
            </a:pPr>
            <a:r>
              <a:t>Totaux: =COUNTA('Données visites'![Identifiant])</a:t>
            </a:r>
          </a:p>
          <a:p>
            <a:pPr>
              <a:defRPr sz="1800">
                <a:solidFill>
                  <a:srgbClr val="F4F6F6"/>
                </a:solidFill>
                <a:latin typeface="Arial"/>
              </a:defRPr>
            </a:pPr>
            <a:r>
              <a:t>Uniques: =COUNTA(UNIQUE('Données visites'![Identifiant]))</a:t>
            </a:r>
          </a:p>
          <a:p>
            <a:pPr>
              <a:defRPr sz="1800">
                <a:solidFill>
                  <a:srgbClr val="F4F6F6"/>
                </a:solidFill>
                <a:latin typeface="Arial"/>
              </a:defRPr>
            </a:pPr>
            <a:r>
              <a:t>Répartition: =COUNTIF(col; étiquette) (Mode, Secteur, Délégué)</a:t>
            </a:r>
          </a:p>
          <a:p>
            <a:pPr>
              <a:defRPr sz="1800">
                <a:solidFill>
                  <a:srgbClr val="F4F6F6"/>
                </a:solidFill>
                <a:latin typeface="Arial"/>
              </a:defRPr>
            </a:pPr>
            <a:r>
              <a:t>Attributs médecins: XLOOKUP + SUMPRODUCT (ARS, Région, Spécialités)</a:t>
            </a:r>
          </a:p>
          <a:p>
            <a:pPr>
              <a:defRPr sz="1800">
                <a:solidFill>
                  <a:srgbClr val="F4F6F6"/>
                </a:solidFill>
                <a:latin typeface="Arial"/>
              </a:defRPr>
            </a:pPr>
            <a:r>
              <a:t>Justification: formules dynamiques, auditables, zéro valeurs codées en dur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4F6F6"/>
                </a:solidFill>
                <a:latin typeface="Arial"/>
              </a:rPr>
              <a:t>Justification des réponses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8046720" cy="5257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4F6F6"/>
                </a:solidFill>
                <a:latin typeface="Arial"/>
              </a:defRPr>
            </a:pPr>
            <a:r>
              <a:t>Total visites: comptage des identifiants (toutes lignes non vides)</a:t>
            </a:r>
          </a:p>
          <a:p>
            <a:pPr>
              <a:defRPr sz="1800">
                <a:solidFill>
                  <a:srgbClr val="F4F6F6"/>
                </a:solidFill>
                <a:latin typeface="Arial"/>
              </a:defRPr>
            </a:pPr>
            <a:r>
              <a:t>Médecins uniques: UNIQUE sur "Identifiant"</a:t>
            </a:r>
          </a:p>
          <a:p>
            <a:pPr>
              <a:defRPr sz="1800">
                <a:solidFill>
                  <a:srgbClr val="F4F6F6"/>
                </a:solidFill>
                <a:latin typeface="Arial"/>
              </a:defRPr>
            </a:pPr>
            <a:r>
              <a:t>Mode/Secteur: COUNTIF sur colonnes correspondantes</a:t>
            </a:r>
          </a:p>
          <a:p>
            <a:pPr>
              <a:defRPr sz="1800">
                <a:solidFill>
                  <a:srgbClr val="F4F6F6"/>
                </a:solidFill>
                <a:latin typeface="Arial"/>
              </a:defRPr>
            </a:pPr>
            <a:r>
              <a:t>Délégué: COUNTIF sur "Nom du délégué"</a:t>
            </a:r>
          </a:p>
          <a:p>
            <a:pPr>
              <a:defRPr sz="1800">
                <a:solidFill>
                  <a:srgbClr val="F4F6F6"/>
                </a:solidFill>
                <a:latin typeface="Arial"/>
              </a:defRPr>
            </a:pPr>
            <a:r>
              <a:t>ARS/Région: SUMPRODUCT( XLOOKUP(Identifiant_visite → attribut_médecin) = libellé )</a:t>
            </a:r>
          </a:p>
          <a:p>
            <a:pPr>
              <a:defRPr sz="1800">
                <a:solidFill>
                  <a:srgbClr val="F4F6F6"/>
                </a:solidFill>
                <a:latin typeface="Arial"/>
              </a:defRPr>
            </a:pPr>
            <a:r>
              <a:t>Spécialités: SOMME des correspondances sur Spécialité 1 OU 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4F6F6"/>
                </a:solidFill>
                <a:latin typeface="Arial"/>
              </a:rPr>
              <a:t>Qualité et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8046720" cy="5257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4F6F6"/>
                </a:solidFill>
                <a:latin typeface="Arial"/>
              </a:defRPr>
            </a:pPr>
            <a:r>
              <a:t>Zéro erreur de formules (post-application + recalcul)</a:t>
            </a:r>
          </a:p>
          <a:p>
            <a:pPr>
              <a:defRPr sz="1800">
                <a:solidFill>
                  <a:srgbClr val="F4F6F6"/>
                </a:solidFill>
                <a:latin typeface="Arial"/>
              </a:defRPr>
            </a:pPr>
            <a:r>
              <a:t>Traçabilité: audit.json + artefacts (CSV, JSON, charts)</a:t>
            </a:r>
          </a:p>
          <a:p>
            <a:pPr>
              <a:defRPr sz="1800">
                <a:solidFill>
                  <a:srgbClr val="F4F6F6"/>
                </a:solidFill>
                <a:latin typeface="Arial"/>
              </a:defRPr>
            </a:pPr>
            <a:r>
              <a:t>Lisibilité: titres FR, légendes, unités explicites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58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Arial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F4F6F6"/>
                </a:solidFill>
                <a:latin typeface="Arial"/>
              </a:rPr>
              <a:t>Dashboard fiable, reproductible et auditable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