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7"/>
    <p:sldId id="277" r:id="rId28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objective and pre/post LLM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Map: explain zoom path and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key insight and what-to-do-next.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575248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Analysis: 2022 vs 2025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808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vs Post LLM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3901" y="1028551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Applications – Volume, Tempo, and Patterns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22646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636198" cy="4102150"/>
          </a:xfrm>
          <a:prstGeom prst="roundRect">
            <a:avLst>
              <a:gd name="adj" fmla="val 1858"/>
            </a:avLst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914251"/>
            <a:ext cx="1943100" cy="1943100"/>
          </a:xfrm>
          <a:prstGeom prst="roundRect">
            <a:avLst>
              <a:gd name="adj" fmla="val 6535294"/>
            </a:avLst>
          </a:prstGeom>
          <a:noFill/>
          <a:ln w="1905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09450" y="1800076"/>
            <a:ext cx="6479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01901" y="914251"/>
            <a:ext cx="1435001" cy="1435001"/>
          </a:xfrm>
          <a:prstGeom prst="roundRect">
            <a:avLst>
              <a:gd name="adj" fmla="val 8849283"/>
            </a:avLst>
          </a:prstGeom>
          <a:noFill/>
          <a:ln w="1905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65091" y="1546027"/>
            <a:ext cx="7084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901" y="1422350"/>
            <a:ext cx="1435001" cy="1435001"/>
          </a:xfrm>
          <a:prstGeom prst="roundRect">
            <a:avLst>
              <a:gd name="adj" fmla="val 8849283"/>
            </a:avLst>
          </a:prstGeom>
          <a:noFill/>
          <a:ln w="1905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38603" y="2054126"/>
            <a:ext cx="9334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vs 2025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5802" y="914251"/>
            <a:ext cx="1054001" cy="1054001"/>
          </a:xfrm>
          <a:prstGeom prst="roundRect">
            <a:avLst>
              <a:gd name="adj" fmla="val 12048119"/>
            </a:avLst>
          </a:prstGeom>
          <a:noFill/>
          <a:ln w="1905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99628" y="1355527"/>
            <a:ext cx="7863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7851" y="2692301"/>
            <a:ext cx="1054001" cy="1054001"/>
          </a:xfrm>
          <a:prstGeom prst="roundRect">
            <a:avLst>
              <a:gd name="adj" fmla="val 12048119"/>
            </a:avLst>
          </a:prstGeom>
          <a:noFill/>
          <a:ln w="1905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64583" y="3133576"/>
            <a:ext cx="4405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5901" y="3327350"/>
            <a:ext cx="1054001" cy="1054001"/>
          </a:xfrm>
          <a:prstGeom prst="roundRect">
            <a:avLst>
              <a:gd name="adj" fmla="val 12048119"/>
            </a:avLst>
          </a:prstGeom>
          <a:noFill/>
          <a:ln w="1905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9938" y="3768626"/>
            <a:ext cx="405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31802" y="3454301"/>
            <a:ext cx="1435001" cy="1435001"/>
          </a:xfrm>
          <a:prstGeom prst="roundRect">
            <a:avLst>
              <a:gd name="adj" fmla="val 8849283"/>
            </a:avLst>
          </a:prstGeom>
          <a:noFill/>
          <a:ln w="1905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416699" y="4086076"/>
            <a:ext cx="6650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77901" y="1803350"/>
            <a:ext cx="1777901" cy="25301"/>
          </a:xfrm>
          <a:prstGeom prst="rect">
            <a:avLst/>
          </a:prstGeom>
          <a:solidFill>
            <a:srgbClr val="4949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17802" y="1803350"/>
            <a:ext cx="1524000" cy="25301"/>
          </a:xfrm>
          <a:prstGeom prst="rect">
            <a:avLst/>
          </a:prstGeom>
          <a:solidFill>
            <a:srgbClr val="4949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49901" y="1803350"/>
            <a:ext cx="1015901" cy="25301"/>
          </a:xfrm>
          <a:prstGeom prst="rect">
            <a:avLst/>
          </a:prstGeom>
          <a:solidFill>
            <a:srgbClr val="4949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5851" y="2819251"/>
            <a:ext cx="1269950" cy="25301"/>
          </a:xfrm>
          <a:prstGeom prst="rect">
            <a:avLst/>
          </a:prstGeom>
          <a:solidFill>
            <a:srgbClr val="4949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317802" y="3581251"/>
            <a:ext cx="1015901" cy="25301"/>
          </a:xfrm>
          <a:prstGeom prst="rect">
            <a:avLst/>
          </a:prstGeom>
          <a:solidFill>
            <a:srgbClr val="4949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47851" y="4089350"/>
            <a:ext cx="1524000" cy="25301"/>
          </a:xfrm>
          <a:prstGeom prst="rect">
            <a:avLst/>
          </a:prstGeom>
          <a:solidFill>
            <a:srgbClr val="4949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3901" y="4838700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path: Overview → Data Core → 2022 vs 2025 → Companies → Bursts → Gmail → Summary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267616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&amp;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2501" y="660350"/>
            <a:ext cx="840759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application intensity and cadence (2022 vs 2025)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patterns (month, weekday); company concentration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pandas resampling; 7-day gap to define periods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01271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Data Core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636198" cy="4076849"/>
          </a:xfrm>
          <a:prstGeom prst="roundRect">
            <a:avLst>
              <a:gd name="adj" fmla="val 1869"/>
            </a:avLst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914251"/>
            <a:ext cx="1943100" cy="1943100"/>
          </a:xfrm>
          <a:prstGeom prst="roundRect">
            <a:avLst>
              <a:gd name="adj" fmla="val 6535294"/>
            </a:avLst>
          </a:prstGeom>
          <a:noFill/>
          <a:ln w="1905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09450" y="1800076"/>
            <a:ext cx="6479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01901" y="914251"/>
            <a:ext cx="1473101" cy="1473101"/>
          </a:xfrm>
          <a:prstGeom prst="roundRect">
            <a:avLst>
              <a:gd name="adj" fmla="val 8620407"/>
            </a:avLst>
          </a:prstGeom>
          <a:solidFill>
            <a:srgbClr val="F58518">
              <a:alpha val="15000"/>
            </a:srgbClr>
          </a:solidFill>
          <a:ln w="3810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84141" y="1565077"/>
            <a:ext cx="7084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901" y="1422350"/>
            <a:ext cx="1435001" cy="1435001"/>
          </a:xfrm>
          <a:prstGeom prst="roundRect">
            <a:avLst>
              <a:gd name="adj" fmla="val 8849283"/>
            </a:avLst>
          </a:prstGeom>
          <a:noFill/>
          <a:ln w="1905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38603" y="2054126"/>
            <a:ext cx="9334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vs 2025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5802" y="914251"/>
            <a:ext cx="1054001" cy="1054001"/>
          </a:xfrm>
          <a:prstGeom prst="roundRect">
            <a:avLst>
              <a:gd name="adj" fmla="val 12048119"/>
            </a:avLst>
          </a:prstGeom>
          <a:noFill/>
          <a:ln w="1905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99628" y="1355527"/>
            <a:ext cx="7863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3901" y="4838700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→ Monthly → Heatmap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86843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Volume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495502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leads with 507 applications; 2022 shows 131 (pre-LLM baseline).</a:t>
            </a:r>
            <a:endParaRPr lang="en-US" sz="1000" dirty="0"/>
          </a:p>
        </p:txBody>
      </p:sp>
      <p:pic>
        <p:nvPicPr>
          <p:cNvPr id="5" name="Image 0" descr="C:\Users\aitor\OneDrive\Escritorio\Skills\skills-4\artifacts\operations\20251030-155036-69363\html\slides\applications_by_yea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8635901" cy="36829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403557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 (All Years)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495502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across all years; activity spikes in 2022 and sustained run in 2025.</a:t>
            </a:r>
            <a:endParaRPr lang="en-US" sz="1000" dirty="0"/>
          </a:p>
        </p:txBody>
      </p:sp>
      <p:pic>
        <p:nvPicPr>
          <p:cNvPr id="5" name="Image 0" descr="C:\Users\aitor\OneDrive\Escritorio\Skills\skills-4\artifacts\operations\20251030-155036-69363\html\slides\applications_by_month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8635901" cy="36829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72710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Heatmap: Year × Month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495502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concentrates Apr–May; 2025 sustains Mar–Jul with higher volume.</a:t>
            </a:r>
            <a:endParaRPr lang="en-US" sz="1000" dirty="0"/>
          </a:p>
        </p:txBody>
      </p:sp>
      <p:pic>
        <p:nvPicPr>
          <p:cNvPr id="5" name="Image 0" descr="C:\Users\aitor\OneDrive\Escritorio\Skills\skills-4\artifacts\operations\20251030-155036-69363\html\slides\year_month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8635901" cy="36829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4819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2022 vs 2025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636198" cy="4076849"/>
          </a:xfrm>
          <a:prstGeom prst="roundRect">
            <a:avLst>
              <a:gd name="adj" fmla="val 1869"/>
            </a:avLst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901" y="1422350"/>
            <a:ext cx="1473101" cy="1473101"/>
          </a:xfrm>
          <a:prstGeom prst="roundRect">
            <a:avLst>
              <a:gd name="adj" fmla="val 8620407"/>
            </a:avLst>
          </a:prstGeom>
          <a:solidFill>
            <a:srgbClr val="F58518">
              <a:alpha val="15000"/>
            </a:srgbClr>
          </a:solidFill>
          <a:ln w="3810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57653" y="2073176"/>
            <a:ext cx="9334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vs 2025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01901" y="914251"/>
            <a:ext cx="1435001" cy="1435001"/>
          </a:xfrm>
          <a:prstGeom prst="roundRect">
            <a:avLst>
              <a:gd name="adj" fmla="val 8849283"/>
            </a:avLst>
          </a:prstGeom>
          <a:noFill/>
          <a:ln w="1905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65091" y="1546027"/>
            <a:ext cx="7084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65802" y="914251"/>
            <a:ext cx="1054001" cy="1054001"/>
          </a:xfrm>
          <a:prstGeom prst="roundRect">
            <a:avLst>
              <a:gd name="adj" fmla="val 12048119"/>
            </a:avLst>
          </a:prstGeom>
          <a:noFill/>
          <a:ln w="1905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99628" y="1355527"/>
            <a:ext cx="7863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3901" y="4838700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Overlay → Cumulative → Weekday</a:t>
            </a:r>
            <a:endParaRPr lang="en-US" sz="1100" dirty="0"/>
          </a:p>
        </p:txBody>
      </p:sp>
      <p:sp>
        <p:nvSpPr>
          <p:cNvPr id="12" name="Rounded Rectangle 11"/>
          <p:cNvSpPr/>
          <p:nvPr/>
        </p:nvSpPr>
        <p:spPr>
          <a:xfrm>
            <a:off x="7315200" y="548640"/>
            <a:ext cx="2743200" cy="548640"/>
          </a:xfrm>
          <a:prstGeom prst="roundRect">
            <a:avLst/>
          </a:prstGeom>
          <a:solidFill>
            <a:srgbClr val="2C2C2C"/>
          </a:solidFill>
          <a:ln>
            <a:solidFill>
              <a:srgbClr val="AAB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4F6F6"/>
                </a:solidFill>
              </a:rPr>
              <a:t>  2022   2025</a:t>
            </a:r>
          </a:p>
        </p:txBody>
      </p:sp>
      <p:sp>
        <p:nvSpPr>
          <p:cNvPr id="13" name="Oval 12"/>
          <p:cNvSpPr/>
          <p:nvPr/>
        </p:nvSpPr>
        <p:spPr>
          <a:xfrm>
            <a:off x="7452360" y="731520"/>
            <a:ext cx="164592" cy="164592"/>
          </a:xfrm>
          <a:prstGeom prst="ellipse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731520"/>
            <a:ext cx="164592" cy="164592"/>
          </a:xfrm>
          <a:prstGeom prst="ellipse">
            <a:avLst/>
          </a:prstGeom>
          <a:solidFill>
            <a:srgbClr val="F5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488537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Overlay: 2022 vs 2025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495502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starts earlier and remains consistently higher month-to-month.</a:t>
            </a:r>
            <a:endParaRPr lang="en-US" sz="1000" dirty="0"/>
          </a:p>
        </p:txBody>
      </p:sp>
      <p:pic>
        <p:nvPicPr>
          <p:cNvPr id="5" name="Image 0" descr="C:\Users\aitor\OneDrive\Escritorio\Skills\skills-4\artifacts\operations\20251030-155036-69363\html\slides\compare_2022_vs_2025_month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8635901" cy="368290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548640"/>
            <a:ext cx="2743200" cy="548640"/>
          </a:xfrm>
          <a:prstGeom prst="roundRect">
            <a:avLst/>
          </a:prstGeom>
          <a:solidFill>
            <a:srgbClr val="2C2C2C"/>
          </a:solidFill>
          <a:ln>
            <a:solidFill>
              <a:srgbClr val="AAB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4F6F6"/>
                </a:solidFill>
              </a:rPr>
              <a:t>  2022   2025</a:t>
            </a:r>
          </a:p>
        </p:txBody>
      </p:sp>
      <p:sp>
        <p:nvSpPr>
          <p:cNvPr id="7" name="Oval 6"/>
          <p:cNvSpPr/>
          <p:nvPr/>
        </p:nvSpPr>
        <p:spPr>
          <a:xfrm>
            <a:off x="7452360" y="731520"/>
            <a:ext cx="164592" cy="164592"/>
          </a:xfrm>
          <a:prstGeom prst="ellipse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40" y="731520"/>
            <a:ext cx="164592" cy="164592"/>
          </a:xfrm>
          <a:prstGeom prst="ellipse">
            <a:avLst/>
          </a:prstGeom>
          <a:solidFill>
            <a:srgbClr val="F5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408066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Cumulative: 2022 vs 2025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495502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pace in 2025 outstrips 2022 over the cycle.</a:t>
            </a:r>
            <a:endParaRPr lang="en-US" sz="1000" dirty="0"/>
          </a:p>
        </p:txBody>
      </p:sp>
      <p:pic>
        <p:nvPicPr>
          <p:cNvPr id="5" name="Image 0" descr="C:\Users\aitor\OneDrive\Escritorio\Skills\skills-4\artifacts\operations\20251030-155036-69363\html\slides\compare_2022_vs_2025_cumula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8635901" cy="368290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548640"/>
            <a:ext cx="2743200" cy="548640"/>
          </a:xfrm>
          <a:prstGeom prst="roundRect">
            <a:avLst/>
          </a:prstGeom>
          <a:solidFill>
            <a:srgbClr val="2C2C2C"/>
          </a:solidFill>
          <a:ln>
            <a:solidFill>
              <a:srgbClr val="AAB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4F6F6"/>
                </a:solidFill>
              </a:rPr>
              <a:t>  2022   2025</a:t>
            </a:r>
          </a:p>
        </p:txBody>
      </p:sp>
      <p:sp>
        <p:nvSpPr>
          <p:cNvPr id="7" name="Oval 6"/>
          <p:cNvSpPr/>
          <p:nvPr/>
        </p:nvSpPr>
        <p:spPr>
          <a:xfrm>
            <a:off x="7452360" y="731520"/>
            <a:ext cx="164592" cy="164592"/>
          </a:xfrm>
          <a:prstGeom prst="ellipse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40" y="731520"/>
            <a:ext cx="164592" cy="164592"/>
          </a:xfrm>
          <a:prstGeom prst="ellipse">
            <a:avLst/>
          </a:prstGeom>
          <a:solidFill>
            <a:srgbClr val="F5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57190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 Distribution (Comparison)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495502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skew to weekdays; 2025 dominates across all days.</a:t>
            </a:r>
            <a:endParaRPr lang="en-US" sz="1000" dirty="0"/>
          </a:p>
        </p:txBody>
      </p:sp>
      <p:pic>
        <p:nvPicPr>
          <p:cNvPr id="5" name="Image 0" descr="C:\Users\aitor\OneDrive\Escritorio\Skills\skills-4\artifacts\operations\20251030-155036-69363\html\slides\compare_2022_vs_2025_week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8635901" cy="368290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548640"/>
            <a:ext cx="2743200" cy="548640"/>
          </a:xfrm>
          <a:prstGeom prst="roundRect">
            <a:avLst/>
          </a:prstGeom>
          <a:solidFill>
            <a:srgbClr val="2C2C2C"/>
          </a:solidFill>
          <a:ln>
            <a:solidFill>
              <a:srgbClr val="AAB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4F6F6"/>
                </a:solidFill>
              </a:rPr>
              <a:t>  2022   2025</a:t>
            </a:r>
          </a:p>
        </p:txBody>
      </p:sp>
      <p:sp>
        <p:nvSpPr>
          <p:cNvPr id="7" name="Oval 6"/>
          <p:cNvSpPr/>
          <p:nvPr/>
        </p:nvSpPr>
        <p:spPr>
          <a:xfrm>
            <a:off x="7452360" y="731520"/>
            <a:ext cx="164592" cy="164592"/>
          </a:xfrm>
          <a:prstGeom prst="ellipse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40" y="731520"/>
            <a:ext cx="164592" cy="164592"/>
          </a:xfrm>
          <a:prstGeom prst="ellipse">
            <a:avLst/>
          </a:prstGeom>
          <a:solidFill>
            <a:srgbClr val="F5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23708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Companies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636198" cy="4076849"/>
          </a:xfrm>
          <a:prstGeom prst="roundRect">
            <a:avLst>
              <a:gd name="adj" fmla="val 1869"/>
            </a:avLst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65802" y="914251"/>
            <a:ext cx="1092101" cy="1092101"/>
          </a:xfrm>
          <a:prstGeom prst="roundRect">
            <a:avLst>
              <a:gd name="adj" fmla="val 11627798"/>
            </a:avLst>
          </a:prstGeom>
          <a:solidFill>
            <a:srgbClr val="F58518">
              <a:alpha val="15000"/>
            </a:srgbClr>
          </a:solidFill>
          <a:ln w="3810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18678" y="1374577"/>
            <a:ext cx="7863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87901" y="1422350"/>
            <a:ext cx="1435001" cy="1435001"/>
          </a:xfrm>
          <a:prstGeom prst="roundRect">
            <a:avLst>
              <a:gd name="adj" fmla="val 8849283"/>
            </a:avLst>
          </a:prstGeom>
          <a:noFill/>
          <a:ln w="1905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38603" y="2054126"/>
            <a:ext cx="9334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vs 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3901" y="4838700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companies 2022 vs 2025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487854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Companies (2022 vs 2025)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013002"/>
            <a:ext cx="43138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2022 companies (recruiter-heavy)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60850" y="4013002"/>
            <a:ext cx="43138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2025 companies (broader spread)</a:t>
            </a:r>
            <a:endParaRPr lang="en-US" sz="1000" dirty="0"/>
          </a:p>
        </p:txBody>
      </p:sp>
      <p:pic>
        <p:nvPicPr>
          <p:cNvPr id="6" name="Image 0" descr="C:\Users\aitor\OneDrive\Escritorio\Skills\skills-4\artifacts\operations\20251030-155036-69363\html\slides\top_companies_2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4191000" cy="3301901"/>
          </a:xfrm>
          <a:prstGeom prst="rect">
            <a:avLst/>
          </a:prstGeom>
        </p:spPr>
      </p:pic>
      <p:pic>
        <p:nvPicPr>
          <p:cNvPr id="7" name="Image 1" descr="C:\Users\aitor\OneDrive\Escritorio\Skills\skills-4\artifacts\operations\20251030-155036-69363\html\slides\top_companies_20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850" y="660350"/>
            <a:ext cx="4191000" cy="33019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43226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Bursts &amp; Capacity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636198" cy="4076849"/>
          </a:xfrm>
          <a:prstGeom prst="roundRect">
            <a:avLst>
              <a:gd name="adj" fmla="val 1869"/>
            </a:avLst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7851" y="2692301"/>
            <a:ext cx="1092101" cy="1092101"/>
          </a:xfrm>
          <a:prstGeom prst="roundRect">
            <a:avLst>
              <a:gd name="adj" fmla="val 11627798"/>
            </a:avLst>
          </a:prstGeom>
          <a:solidFill>
            <a:srgbClr val="F58518">
              <a:alpha val="15000"/>
            </a:srgbClr>
          </a:solidFill>
          <a:ln w="3810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83633" y="3152626"/>
            <a:ext cx="4405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3901" y="4838700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timeline → capacity heuristics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45465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Periods (Bursts)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4495502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2025-03-19→07-24: 472 apps (3.72/day); 2022-04-22→05-20: 94 apps (3.36/day).</a:t>
            </a:r>
            <a:endParaRPr lang="en-US" sz="1000" dirty="0"/>
          </a:p>
        </p:txBody>
      </p:sp>
      <p:pic>
        <p:nvPicPr>
          <p:cNvPr id="5" name="Image 0" descr="C:\Users\aitor\OneDrive\Escritorio\Skills\skills-4\artifacts\operations\20251030-155036-69363\html\slides\applications_by_week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01" y="660350"/>
            <a:ext cx="8635901" cy="36829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12565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Heuristics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2501" y="660350"/>
            <a:ext cx="840759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10-day sprint: ~2.3/day → ~23 applications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4-week run: ~3.3–3.7/day → ~90–105 applications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16–18 weeks: ~3.7/day → 450+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0998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Gmail/ATS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636198" cy="4076849"/>
          </a:xfrm>
          <a:prstGeom prst="roundRect">
            <a:avLst>
              <a:gd name="adj" fmla="val 1869"/>
            </a:avLst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25901" y="3327350"/>
            <a:ext cx="1092101" cy="1092101"/>
          </a:xfrm>
          <a:prstGeom prst="roundRect">
            <a:avLst>
              <a:gd name="adj" fmla="val 11627798"/>
            </a:avLst>
          </a:prstGeom>
          <a:solidFill>
            <a:srgbClr val="F58518">
              <a:alpha val="15000"/>
            </a:srgbClr>
          </a:solidFill>
          <a:ln w="38100">
            <a:solidFill>
              <a:srgbClr val="4C7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68988" y="3787676"/>
            <a:ext cx="405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3901" y="4838700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→ Interview → TTFR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480264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Layer: Gmail/ATS Funnel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2501" y="660350"/>
            <a:ext cx="840759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rate by year, period, company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rate and onsite conversion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Time-to-first-response distributions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2956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660350"/>
            <a:ext cx="8636198" cy="4076849"/>
          </a:xfrm>
          <a:prstGeom prst="roundRect">
            <a:avLst>
              <a:gd name="adj" fmla="val 1869"/>
            </a:avLst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31802" y="3454301"/>
            <a:ext cx="1473101" cy="1473101"/>
          </a:xfrm>
          <a:prstGeom prst="roundRect">
            <a:avLst>
              <a:gd name="adj" fmla="val 8620407"/>
            </a:avLst>
          </a:prstGeom>
          <a:solidFill>
            <a:srgbClr val="F58518">
              <a:alpha val="15000"/>
            </a:srgbClr>
          </a:solidFill>
          <a:ln w="38100">
            <a:solidFill>
              <a:srgbClr val="F5851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35749" y="4105126"/>
            <a:ext cx="6650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3901" y="4838700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Post-LLM persistence and throughput; next: funnel metrics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950"/>
          </a:xfrm>
          <a:prstGeom prst="rect">
            <a:avLst/>
          </a:prstGeom>
          <a:solidFill>
            <a:srgbClr val="F585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68163"/>
            <a:ext cx="371860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Takeaways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2501" y="660350"/>
            <a:ext cx="840759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sustained higher intensity vs 2022 (pre/post LLM distinction)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monthly and cumulative dominance in 2025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add Gmail replies for funnel metrics (response/interview rates)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4F6F6"/>
                </a:solidFill>
              </a:rPr>
              <a:t>Key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931920" cy="1097280"/>
          </a:xfrm>
          <a:prstGeom prst="roundRect">
            <a:avLst/>
          </a:prstGeom>
          <a:solidFill>
            <a:srgbClr val="202020"/>
          </a:solidFill>
          <a:ln>
            <a:solidFill>
              <a:srgbClr val="AAB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7B8"/>
                </a:solidFill>
              </a:rPr>
              <a:t>Total Applications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188720"/>
            <a:ext cx="3931920" cy="1097280"/>
          </a:xfrm>
          <a:prstGeom prst="roundRect">
            <a:avLst/>
          </a:prstGeom>
          <a:solidFill>
            <a:srgbClr val="202020"/>
          </a:solidFill>
          <a:ln>
            <a:solidFill>
              <a:srgbClr val="AAB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3716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8288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7B8"/>
                </a:solidFill>
              </a:rPr>
              <a:t>Peak Rate (apps/day)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60320"/>
            <a:ext cx="3931920" cy="1097280"/>
          </a:xfrm>
          <a:prstGeom prst="roundRect">
            <a:avLst/>
          </a:prstGeom>
          <a:solidFill>
            <a:srgbClr val="202020"/>
          </a:solidFill>
          <a:ln>
            <a:solidFill>
              <a:srgbClr val="AAB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7B8"/>
                </a:solidFill>
              </a:rPr>
              <a:t>Median Daily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560320"/>
            <a:ext cx="3931920" cy="1097280"/>
          </a:xfrm>
          <a:prstGeom prst="roundRect">
            <a:avLst/>
          </a:prstGeom>
          <a:solidFill>
            <a:srgbClr val="202020"/>
          </a:solidFill>
          <a:ln>
            <a:solidFill>
              <a:srgbClr val="AAB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7432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</a:rP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2004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7B8"/>
                </a:solidFill>
              </a:rPr>
              <a:t># Periods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931920" cy="1097280"/>
          </a:xfrm>
          <a:prstGeom prst="roundRect">
            <a:avLst/>
          </a:prstGeom>
          <a:solidFill>
            <a:srgbClr val="202020"/>
          </a:solidFill>
          <a:ln>
            <a:solidFill>
              <a:srgbClr val="AAB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7B8"/>
                </a:solidFill>
              </a:rPr>
              <a:t>Top Company Count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4F6F6"/>
                </a:solidFill>
              </a:rPr>
              <a:t>Recruiters vs Employers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C78A8"/>
                </a:solidFill>
              </a:rPr>
              <a:t>Top Recruiters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8518"/>
                </a:solidFill>
              </a:rPr>
              <a:t>Top Employers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2022 vs 2025</dc:title>
  <dc:subject>PptxGenJS Presentation</dc:subject>
  <dc:creator>Aitor</dc:creator>
  <cp:lastModifiedBy>Aitor</cp:lastModifiedBy>
  <cp:revision>1</cp:revision>
  <dcterms:created xsi:type="dcterms:W3CDTF">2025-10-31T14:32:10Z</dcterms:created>
  <dcterms:modified xsi:type="dcterms:W3CDTF">2025-10-31T14:32:10Z</dcterms:modified>
</cp:coreProperties>
</file>