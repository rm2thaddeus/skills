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58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Arial"/>
              </a:rPr>
              <a:t>Applications Analysis: 2022 vs 2025 (Pre vs Post LLM)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F4F6F6"/>
                </a:solidFill>
                <a:latin typeface="Arial"/>
              </a:rPr>
              <a:t>LinkedIn Applications – Volume, Tempo, and Patterns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F58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Arial"/>
              </a:rPr>
              <a:t>Applications Analysis: 2022 vs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F4F6F6"/>
                </a:solidFill>
                <a:latin typeface="Arial"/>
              </a:rPr>
              <a:t>Pre vs Post LLM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4F6F6"/>
                </a:solidFill>
                <a:latin typeface="Arial"/>
              </a:rPr>
              <a:t>Objective &amp;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8046720" cy="5257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4F6F6"/>
                </a:solidFill>
                <a:latin typeface="Arial"/>
              </a:defRPr>
            </a:pPr>
            <a:r>
              <a:t>Compare application intensity and cadence (2022 vs 2025)</a:t>
            </a:r>
          </a:p>
          <a:p>
            <a:pPr>
              <a:defRPr sz="1800">
                <a:solidFill>
                  <a:srgbClr val="F4F6F6"/>
                </a:solidFill>
                <a:latin typeface="Arial"/>
              </a:defRPr>
            </a:pPr>
            <a:r>
              <a:t>Temporal patterns (month, weekday); company concentration</a:t>
            </a:r>
          </a:p>
          <a:p>
            <a:pPr>
              <a:defRPr sz="1800">
                <a:solidFill>
                  <a:srgbClr val="F4F6F6"/>
                </a:solidFill>
                <a:latin typeface="Arial"/>
              </a:defRPr>
            </a:pPr>
            <a:r>
              <a:t>Method: pandas resampling; 7-day gap to define periods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4F6F6"/>
                </a:solidFill>
                <a:latin typeface="Arial"/>
              </a:rPr>
              <a:t>Yearly Volume Overview</a:t>
            </a:r>
          </a:p>
        </p:txBody>
      </p:sp>
      <p:pic>
        <p:nvPicPr>
          <p:cNvPr id="4" name="Picture 3" descr="applications_by_year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046720" cy="4023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9436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AAB7B8"/>
                </a:solidFill>
                <a:latin typeface="Arial"/>
              </a:rPr>
              <a:t>2025 leads with 507 applications; 2022 shows 131 (pre-LLM baseline).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4F6F6"/>
                </a:solidFill>
                <a:latin typeface="Arial"/>
              </a:rPr>
              <a:t>Monthly Trend (All Years)</a:t>
            </a:r>
          </a:p>
        </p:txBody>
      </p:sp>
      <p:pic>
        <p:nvPicPr>
          <p:cNvPr id="4" name="Picture 3" descr="applications_by_month_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046720" cy="2682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9436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AAB7B8"/>
                </a:solidFill>
                <a:latin typeface="Arial"/>
              </a:rPr>
              <a:t>Context across all years; activity spikes in 2022 and sustained run in 2025.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4F6F6"/>
                </a:solidFill>
                <a:latin typeface="Arial"/>
              </a:rPr>
              <a:t>Heatmap: Year × Month</a:t>
            </a:r>
          </a:p>
        </p:txBody>
      </p:sp>
      <p:pic>
        <p:nvPicPr>
          <p:cNvPr id="4" name="Picture 3" descr="year_month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046720" cy="28163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9436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AAB7B8"/>
                </a:solidFill>
                <a:latin typeface="Arial"/>
              </a:rPr>
              <a:t>2022 concentrates Apr–May; 2025 sustains Mar–Jul with higher volume.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4F6F6"/>
                </a:solidFill>
                <a:latin typeface="Arial"/>
              </a:rPr>
              <a:t>Monthly Overlay: 2022 vs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8046720" cy="4709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AB7B8"/>
                </a:solidFill>
                <a:latin typeface="Arial"/>
              </a:defRPr>
            </a:pPr>
            <a:r>
              <a:t>[Chart missing: compare_2022_vs_2025_monthly.png]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4F6F6"/>
                </a:solidFill>
                <a:latin typeface="Arial"/>
              </a:rPr>
              <a:t>Cumulative: 2022 vs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8046720" cy="4709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AB7B8"/>
                </a:solidFill>
                <a:latin typeface="Arial"/>
              </a:defRPr>
            </a:pPr>
            <a:r>
              <a:t>[Chart missing: compare_2022_vs_2025_cumulative.png]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4F6F6"/>
                </a:solidFill>
                <a:latin typeface="Arial"/>
              </a:rPr>
              <a:t>Weekday Distribution (Comparison)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8046720" cy="4709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AB7B8"/>
                </a:solidFill>
                <a:latin typeface="Arial"/>
              </a:defRPr>
            </a:pPr>
            <a:r>
              <a:t>[Chart missing: compare_2022_vs_2025_weekday.png]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4F6F6"/>
                </a:solidFill>
                <a:latin typeface="Arial"/>
              </a:rPr>
              <a:t>Top Companies (2022 vs 2025)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4F6F6"/>
                </a:solidFill>
                <a:latin typeface="Arial"/>
              </a:rPr>
              <a:t>Application Periods (Bursts)</a:t>
            </a:r>
          </a:p>
        </p:txBody>
      </p:sp>
      <p:pic>
        <p:nvPicPr>
          <p:cNvPr id="4" name="Picture 3" descr="applications_by_week_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8046720" cy="2682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94360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AAB7B8"/>
                </a:solidFill>
                <a:latin typeface="Arial"/>
              </a:rPr>
              <a:t>2025-03-19→07-24: 472 apps (3.72/day); 2022-04-22→05-20: 94 apps (3.36/day).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4F6F6"/>
                </a:solidFill>
                <a:latin typeface="Arial"/>
              </a:rPr>
              <a:t>Rates &amp; Capacity (Setup)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8046720" cy="5257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4F6F6"/>
                </a:solidFill>
                <a:latin typeface="Arial"/>
              </a:defRPr>
            </a:pPr>
            <a:r>
              <a:t>10-day sprint: ~2.3/day (~23 apps)</a:t>
            </a:r>
          </a:p>
          <a:p>
            <a:pPr>
              <a:defRPr sz="1800">
                <a:solidFill>
                  <a:srgbClr val="F4F6F6"/>
                </a:solidFill>
                <a:latin typeface="Arial"/>
              </a:defRPr>
            </a:pPr>
            <a:r>
              <a:t>4-week run: ~3.3–3.7/day (~90–105 apps)</a:t>
            </a:r>
          </a:p>
          <a:p>
            <a:pPr>
              <a:defRPr sz="1800">
                <a:solidFill>
                  <a:srgbClr val="F4F6F6"/>
                </a:solidFill>
                <a:latin typeface="Arial"/>
              </a:defRPr>
            </a:pPr>
            <a:r>
              <a:t>16–18 weeks: ~3.7/day (450+ apps)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4F6F6"/>
                </a:solidFill>
                <a:latin typeface="Arial"/>
              </a:rPr>
              <a:t>Next: Response/Interest Layer (Gmail)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8046720" cy="5257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4F6F6"/>
                </a:solidFill>
                <a:latin typeface="Arial"/>
              </a:defRPr>
            </a:pPr>
            <a:r>
              <a:t>Ingest replies; compute response &amp; interview rates</a:t>
            </a:r>
          </a:p>
          <a:p>
            <a:pPr>
              <a:defRPr sz="1800">
                <a:solidFill>
                  <a:srgbClr val="F4F6F6"/>
                </a:solidFill>
                <a:latin typeface="Arial"/>
              </a:defRPr>
            </a:pPr>
            <a:r>
              <a:t>Segment by company and period; time-to-first-response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4F6F6"/>
                </a:solidFill>
                <a:latin typeface="Arial"/>
              </a:rPr>
              <a:t>Data Quality &amp; Cleaning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8046720" cy="5257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4F6F6"/>
                </a:solidFill>
                <a:latin typeface="Arial"/>
              </a:defRPr>
            </a:pPr>
            <a:r>
              <a:t>Date normalization; 7-day gap for periods</a:t>
            </a:r>
          </a:p>
          <a:p>
            <a:pPr>
              <a:defRPr sz="1800">
                <a:solidFill>
                  <a:srgbClr val="F4F6F6"/>
                </a:solidFill>
                <a:latin typeface="Arial"/>
              </a:defRPr>
            </a:pPr>
            <a:r>
              <a:t>Company name normalization (to-do); recruiter labeling (to-do)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4F6F6"/>
                </a:solidFill>
                <a:latin typeface="Arial"/>
              </a:rPr>
              <a:t>Summary &amp;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8046720" cy="5257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4F6F6"/>
                </a:solidFill>
                <a:latin typeface="Arial"/>
              </a:defRPr>
            </a:pPr>
            <a:r>
              <a:t>2025 sustained higher intensity vs 2022</a:t>
            </a:r>
          </a:p>
          <a:p>
            <a:pPr>
              <a:defRPr sz="1800">
                <a:solidFill>
                  <a:srgbClr val="F4F6F6"/>
                </a:solidFill>
                <a:latin typeface="Arial"/>
              </a:defRPr>
            </a:pPr>
            <a:r>
              <a:t>Clear pre/post LLM distinction in pace and persistence</a:t>
            </a:r>
          </a:p>
          <a:p>
            <a:pPr>
              <a:defRPr sz="1800">
                <a:solidFill>
                  <a:srgbClr val="F4F6F6"/>
                </a:solidFill>
                <a:latin typeface="Arial"/>
              </a:defRPr>
            </a:pPr>
            <a:r>
              <a:t>Funnel metrics pending email integration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